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1A1A2E"/>
                </a:solidFill>
              </a:defRPr>
            </a:pPr>
            <a:r>
              <a:t>Proposal Pengadaan</a:t>
            </a:r>
          </a:p>
          <a:p>
            <a:r>
              <a:t>Sistem Inventory &amp; POS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Solusi Terintegrasi Manajemen Gudang, Distribusi &amp; Penjualan</a:t>
            </a:r>
          </a:p>
          <a:p>
            <a:r>
              <a:t>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Pengelolaan stok manual rawan kesalahan &amp; kehilangan data</a:t>
            </a:r>
          </a:p>
          <a:p>
            <a:pPr>
              <a:spcAft>
                <a:spcPts val="800"/>
              </a:spcAft>
              <a:defRPr sz="1600"/>
            </a:pPr>
            <a:r>
              <a:t>Tracking expired date sulit dilakukan secara konsisten</a:t>
            </a:r>
          </a:p>
          <a:p>
            <a:pPr>
              <a:spcAft>
                <a:spcPts val="800"/>
              </a:spcAft>
              <a:defRPr sz="1600"/>
            </a:pPr>
            <a:r>
              <a:t>Distribusi gudang ke outlet tanpa sistem terintegrasi</a:t>
            </a:r>
          </a:p>
          <a:p>
            <a:pPr>
              <a:spcAft>
                <a:spcPts val="800"/>
              </a:spcAft>
              <a:defRPr sz="1600"/>
            </a:pPr>
            <a:r>
              <a:t>Tidak ada visibilitas realtime terhadap stok &amp; penjualan</a:t>
            </a:r>
          </a:p>
          <a:p>
            <a:pPr>
              <a:spcAft>
                <a:spcPts val="800"/>
              </a:spcAft>
              <a:defRPr sz="1600"/>
            </a:pPr>
            <a:r>
              <a:t>Kebutuhan payment digital (cashless) meningkat</a:t>
            </a:r>
          </a:p>
          <a:p>
            <a:pPr>
              <a:spcAft>
                <a:spcPts val="800"/>
              </a:spcAft>
              <a:defRPr sz="1600"/>
            </a:pPr>
            <a:r>
              <a:t>Pelaporan manual memakan waktu &amp; tidak akurat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Tujuan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Membangun sistem inventory terintegrasi gudang-outlet</a:t>
            </a:r>
          </a:p>
          <a:p>
            <a:pPr>
              <a:spcAft>
                <a:spcPts val="800"/>
              </a:spcAft>
              <a:defRPr sz="1600"/>
            </a:pPr>
            <a:r>
              <a:t>Automasi tracking expired date &amp; blocking produk kadaluarsa</a:t>
            </a:r>
          </a:p>
          <a:p>
            <a:pPr>
              <a:spcAft>
                <a:spcPts val="800"/>
              </a:spcAft>
              <a:defRPr sz="1600"/>
            </a:pPr>
            <a:r>
              <a:t>Digitalisasi alur distribusi dengan Purchase Order system</a:t>
            </a:r>
          </a:p>
          <a:p>
            <a:pPr>
              <a:spcAft>
                <a:spcPts val="800"/>
              </a:spcAft>
              <a:defRPr sz="1600"/>
            </a:pPr>
            <a:r>
              <a:t>POS modern dengan QR scan, split payment, &amp; loyalty</a:t>
            </a:r>
          </a:p>
          <a:p>
            <a:pPr>
              <a:spcAft>
                <a:spcPts val="800"/>
              </a:spcAft>
              <a:defRPr sz="1600"/>
            </a:pPr>
            <a:r>
              <a:t>Dashboard reporting realtime untuk pengambilan keputusan</a:t>
            </a:r>
          </a:p>
          <a:p>
            <a:pPr>
              <a:spcAft>
                <a:spcPts val="800"/>
              </a:spcAft>
              <a:defRPr sz="1600"/>
            </a:pPr>
            <a:r>
              <a:t>Sistem scalable — bisa dipakai untuk berbagai jenis usaha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Fitur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Dynamic RBAC — Role &amp; akses diatur fleksibel oleh admin</a:t>
            </a:r>
          </a:p>
          <a:p>
            <a:pPr>
              <a:spcAft>
                <a:spcPts val="800"/>
              </a:spcAft>
              <a:defRPr sz="1600"/>
            </a:pPr>
            <a:r>
              <a:t>QR Code per Batch — Scan untuk info produk &amp; expired date</a:t>
            </a:r>
          </a:p>
          <a:p>
            <a:pPr>
              <a:spcAft>
                <a:spcPts val="800"/>
              </a:spcAft>
              <a:defRPr sz="1600"/>
            </a:pPr>
            <a:r>
              <a:t>Purchase Order — Alur pengiriman gudang → outlet lengkap</a:t>
            </a:r>
          </a:p>
          <a:p>
            <a:pPr>
              <a:spcAft>
                <a:spcPts val="800"/>
              </a:spcAft>
              <a:defRPr sz="1600"/>
            </a:pPr>
            <a:r>
              <a:t>POS Terminal — Fast, user-friendly, support split payment</a:t>
            </a:r>
          </a:p>
          <a:p>
            <a:pPr>
              <a:spcAft>
                <a:spcPts val="800"/>
              </a:spcAft>
              <a:defRPr sz="1600"/>
            </a:pPr>
            <a:r>
              <a:t>Midtrans Integration — Pembayaran digital (QRIS, e-wallet, dll)</a:t>
            </a:r>
          </a:p>
          <a:p>
            <a:pPr>
              <a:spcAft>
                <a:spcPts val="800"/>
              </a:spcAft>
              <a:defRPr sz="1600"/>
            </a:pPr>
            <a:r>
              <a:t>Member &amp; Loyalty — Point system, tier membership</a:t>
            </a:r>
          </a:p>
          <a:p>
            <a:pPr>
              <a:spcAft>
                <a:spcPts val="800"/>
              </a:spcAft>
              <a:defRPr sz="1600"/>
            </a:pPr>
            <a:r>
              <a:t>Auto Expired Block — Barang kadaluarsa otomatis tidak bisa dijual</a:t>
            </a:r>
          </a:p>
          <a:p>
            <a:pPr>
              <a:spcAft>
                <a:spcPts val="800"/>
              </a:spcAft>
              <a:defRPr sz="1600"/>
            </a:pPr>
            <a:r>
              <a:t>Reports — Sales, stock, profit/loss, expired/waste, cashier recap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Arsitektur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Frontend: Next.js 14 (React) — Dashboard &amp; POS UI</a:t>
            </a:r>
          </a:p>
          <a:p>
            <a:pPr>
              <a:spcAft>
                <a:spcPts val="800"/>
              </a:spcAft>
              <a:defRPr sz="1600"/>
            </a:pPr>
            <a:r>
              <a:t>Backend: NestJS (Node.js) — REST API, Business Logic</a:t>
            </a:r>
          </a:p>
          <a:p>
            <a:pPr>
              <a:spcAft>
                <a:spcPts val="800"/>
              </a:spcAft>
              <a:defRPr sz="1600"/>
            </a:pPr>
            <a:r>
              <a:t>Database: PostgreSQL 16 — Reliable, scalable RDBMS</a:t>
            </a:r>
          </a:p>
          <a:p>
            <a:pPr>
              <a:spcAft>
                <a:spcPts val="800"/>
              </a:spcAft>
              <a:defRPr sz="1600"/>
            </a:pPr>
            <a:r>
              <a:t>Auth: JWT (Access + Refresh Token) — Secure &amp; stateless</a:t>
            </a:r>
          </a:p>
          <a:p>
            <a:pPr>
              <a:spcAft>
                <a:spcPts val="800"/>
              </a:spcAft>
              <a:defRPr sz="1600"/>
            </a:pPr>
            <a:r>
              <a:t>Payment: Midtrans Snap — PCI-DSS compliant gateway</a:t>
            </a:r>
          </a:p>
          <a:p>
            <a:pPr>
              <a:spcAft>
                <a:spcPts val="800"/>
              </a:spcAft>
              <a:defRPr sz="1600"/>
            </a:pPr>
            <a:r>
              <a:t>Deployment: Docker ready, CI/CD compatible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Alur Bisnis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1. Input Barang → Generate QR Code → Tempel di produk</a:t>
            </a:r>
          </a:p>
          <a:p>
            <a:pPr>
              <a:spcAft>
                <a:spcPts val="800"/>
              </a:spcAft>
              <a:defRPr sz="1600"/>
            </a:pPr>
            <a:r>
              <a:t>2. Stock In ke Gudang → Stok tercatat per batch</a:t>
            </a:r>
          </a:p>
          <a:p>
            <a:pPr>
              <a:spcAft>
                <a:spcPts val="800"/>
              </a:spcAft>
              <a:defRPr sz="1600"/>
            </a:pPr>
            <a:r>
              <a:t>3. Buat PO → Kirim ke Outlet → Outlet Terima &amp; Approve</a:t>
            </a:r>
          </a:p>
          <a:p>
            <a:pPr>
              <a:spcAft>
                <a:spcPts val="800"/>
              </a:spcAft>
              <a:defRPr sz="1600"/>
            </a:pPr>
            <a:r>
              <a:t>4. Stok otomatis berpindah dari gudang ke outlet</a:t>
            </a:r>
          </a:p>
          <a:p>
            <a:pPr>
              <a:spcAft>
                <a:spcPts val="800"/>
              </a:spcAft>
              <a:defRPr sz="1600"/>
            </a:pPr>
            <a:r>
              <a:t>5. Kasir scan QR / search → Bayar (Cash/Digital)</a:t>
            </a:r>
          </a:p>
          <a:p>
            <a:pPr>
              <a:spcAft>
                <a:spcPts val="800"/>
              </a:spcAft>
              <a:defRPr sz="1600"/>
            </a:pPr>
            <a:r>
              <a:t>6. Stok berkurang otomatis, laporan ter-update realtime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Keamanan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JWT Authentication — Token-based, short-lived</a:t>
            </a:r>
          </a:p>
          <a:p>
            <a:pPr>
              <a:spcAft>
                <a:spcPts val="800"/>
              </a:spcAft>
              <a:defRPr sz="1600"/>
            </a:pPr>
            <a:r>
              <a:t>Rate Limiting — Proteksi terhadap brute force &amp; DDoS</a:t>
            </a:r>
          </a:p>
          <a:p>
            <a:pPr>
              <a:spcAft>
                <a:spcPts val="800"/>
              </a:spcAft>
              <a:defRPr sz="1600"/>
            </a:pPr>
            <a:r>
              <a:t>Helmet — Security headers (CSP, HSTS, X-Frame, dll)</a:t>
            </a:r>
          </a:p>
          <a:p>
            <a:pPr>
              <a:spcAft>
                <a:spcPts val="800"/>
              </a:spcAft>
              <a:defRPr sz="1600"/>
            </a:pPr>
            <a:r>
              <a:t>Input Validation — Whitelist mode, reject unknown fields</a:t>
            </a:r>
          </a:p>
          <a:p>
            <a:pPr>
              <a:spcAft>
                <a:spcPts val="800"/>
              </a:spcAft>
              <a:defRPr sz="1600"/>
            </a:pPr>
            <a:r>
              <a:t>Bcrypt — Password hashing (industry standard)</a:t>
            </a:r>
          </a:p>
          <a:p>
            <a:pPr>
              <a:spcAft>
                <a:spcPts val="800"/>
              </a:spcAft>
              <a:defRPr sz="1600"/>
            </a:pPr>
            <a:r>
              <a:t>Soft Delete — Data tidak pernah benar-benar hilang</a:t>
            </a:r>
          </a:p>
          <a:p>
            <a:pPr>
              <a:spcAft>
                <a:spcPts val="800"/>
              </a:spcAft>
              <a:defRPr sz="1600"/>
            </a:pPr>
            <a:r>
              <a:t>CORS — Hanya frontend terdaftar yang bisa akses API</a:t>
            </a:r>
          </a:p>
          <a:p>
            <a:pPr>
              <a:spcAft>
                <a:spcPts val="800"/>
              </a:spcAft>
              <a:defRPr sz="1600"/>
            </a:pPr>
            <a:r>
              <a:t>Captcha — Proteksi form login dari bot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Modul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Auth &amp; RBAC — Login, register, dynamic roles &amp; permissions</a:t>
            </a:r>
          </a:p>
          <a:p>
            <a:pPr>
              <a:spcAft>
                <a:spcPts val="800"/>
              </a:spcAft>
              <a:defRPr sz="1600"/>
            </a:pPr>
            <a:r>
              <a:t>Master Data — Warehouse, outlet, category management</a:t>
            </a:r>
          </a:p>
          <a:p>
            <a:pPr>
              <a:spcAft>
                <a:spcPts val="800"/>
              </a:spcAft>
              <a:defRPr sz="1600"/>
            </a:pPr>
            <a:r>
              <a:t>Inventory — Product, batch, stock tracking, QR code</a:t>
            </a:r>
          </a:p>
          <a:p>
            <a:pPr>
              <a:spcAft>
                <a:spcPts val="800"/>
              </a:spcAft>
              <a:defRPr sz="1600"/>
            </a:pPr>
            <a:r>
              <a:t>Purchase Order — Distribution flow warehouse → outlet</a:t>
            </a:r>
          </a:p>
          <a:p>
            <a:pPr>
              <a:spcAft>
                <a:spcPts val="800"/>
              </a:spcAft>
              <a:defRPr sz="1600"/>
            </a:pPr>
            <a:r>
              <a:t>POS — Transaction, cart, discount, FIFO expired</a:t>
            </a:r>
          </a:p>
          <a:p>
            <a:pPr>
              <a:spcAft>
                <a:spcPts val="800"/>
              </a:spcAft>
              <a:defRPr sz="1600"/>
            </a:pPr>
            <a:r>
              <a:t>Payment — Cash, Midtrans, split payment</a:t>
            </a:r>
          </a:p>
          <a:p>
            <a:pPr>
              <a:spcAft>
                <a:spcPts val="800"/>
              </a:spcAft>
              <a:defRPr sz="1600"/>
            </a:pPr>
            <a:r>
              <a:t>Member — Loyalty, points, tiers</a:t>
            </a:r>
          </a:p>
          <a:p>
            <a:pPr>
              <a:spcAft>
                <a:spcPts val="800"/>
              </a:spcAft>
              <a:defRPr sz="1600"/>
            </a:pPr>
            <a:r>
              <a:t>Reports — Sales, stock, expired, profit/loss, cashier</a:t>
            </a:r>
          </a:p>
          <a:p>
            <a:pPr>
              <a:spcAft>
                <a:spcPts val="800"/>
              </a:spcAft>
              <a:defRPr sz="1600"/>
            </a:pPr>
            <a:r>
              <a:t>Notifications — Expired alert, low stock, PO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Timeline Pengembangan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Minggu 1-2: Setup, Auth, RBAC, Master Data</a:t>
            </a:r>
          </a:p>
          <a:p>
            <a:pPr>
              <a:spcAft>
                <a:spcPts val="800"/>
              </a:spcAft>
              <a:defRPr sz="1600"/>
            </a:pPr>
            <a:r>
              <a:t>Minggu 3-4: Inventory, Product, Batch, QR Code</a:t>
            </a:r>
          </a:p>
          <a:p>
            <a:pPr>
              <a:spcAft>
                <a:spcPts val="800"/>
              </a:spcAft>
              <a:defRPr sz="1600"/>
            </a:pPr>
            <a:r>
              <a:t>Minggu 5-6: Purchase Order, Stock Movement</a:t>
            </a:r>
          </a:p>
          <a:p>
            <a:pPr>
              <a:spcAft>
                <a:spcPts val="800"/>
              </a:spcAft>
              <a:defRPr sz="1600"/>
            </a:pPr>
            <a:r>
              <a:t>Minggu 7-8: POS, Payment, Member/Loyalty</a:t>
            </a:r>
          </a:p>
          <a:p>
            <a:pPr>
              <a:spcAft>
                <a:spcPts val="800"/>
              </a:spcAft>
              <a:defRPr sz="1600"/>
            </a:pPr>
            <a:r>
              <a:t>Minggu 9-10: Reports, Notifications, Promo Engine</a:t>
            </a:r>
          </a:p>
          <a:p>
            <a:pPr>
              <a:spcAft>
                <a:spcPts val="800"/>
              </a:spcAft>
              <a:defRPr sz="1600"/>
            </a:pPr>
            <a:r>
              <a:t>Minggu 11-12: Frontend UI (Dashboard, POS, dll)</a:t>
            </a:r>
          </a:p>
          <a:p>
            <a:pPr>
              <a:spcAft>
                <a:spcPts val="800"/>
              </a:spcAft>
              <a:defRPr sz="1600"/>
            </a:pPr>
            <a:r>
              <a:t>Minggu 13-14: Integration Testing &amp; Security Audit</a:t>
            </a:r>
          </a:p>
          <a:p>
            <a:pPr>
              <a:spcAft>
                <a:spcPts val="800"/>
              </a:spcAft>
              <a:defRPr sz="1600"/>
            </a:pPr>
            <a:r>
              <a:t>Minggu 15-16: UAT, Bug Fix,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Frontend: Next.js 14, React 18, TypeScript, Tailwind CSS</a:t>
            </a:r>
          </a:p>
          <a:p>
            <a:pPr>
              <a:spcAft>
                <a:spcPts val="800"/>
              </a:spcAft>
              <a:defRPr sz="1600"/>
            </a:pPr>
            <a:r>
              <a:t>Backend: NestJS 10, TypeORM, PostgreSQL 16</a:t>
            </a:r>
          </a:p>
          <a:p>
            <a:pPr>
              <a:spcAft>
                <a:spcPts val="800"/>
              </a:spcAft>
              <a:defRPr sz="1600"/>
            </a:pPr>
            <a:r>
              <a:t>Auth: JWT + Passport, bcrypt, Refresh Token</a:t>
            </a:r>
          </a:p>
          <a:p>
            <a:pPr>
              <a:spcAft>
                <a:spcPts val="800"/>
              </a:spcAft>
              <a:defRPr sz="1600"/>
            </a:pPr>
            <a:r>
              <a:t>Payment: Midtrans Snap API</a:t>
            </a:r>
          </a:p>
          <a:p>
            <a:pPr>
              <a:spcAft>
                <a:spcPts val="800"/>
              </a:spcAft>
              <a:defRPr sz="1600"/>
            </a:pPr>
            <a:r>
              <a:t>DevOps: Docker, Docker Compose</a:t>
            </a:r>
          </a:p>
          <a:p>
            <a:pPr>
              <a:spcAft>
                <a:spcPts val="800"/>
              </a:spcAft>
              <a:defRPr sz="1600"/>
            </a:pPr>
            <a:r>
              <a:t>Tools: Swagger (API docs), Pino (logging)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1A2E"/>
                </a:solidFill>
              </a:defRPr>
            </a:pPr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Source code (Backend + Frontend) — fully documented</a:t>
            </a:r>
          </a:p>
          <a:p>
            <a:pPr>
              <a:spcAft>
                <a:spcPts val="800"/>
              </a:spcAft>
              <a:defRPr sz="1600"/>
            </a:pPr>
            <a:r>
              <a:t>Database schema &amp; migration scripts</a:t>
            </a:r>
          </a:p>
          <a:p>
            <a:pPr>
              <a:spcAft>
                <a:spcPts val="800"/>
              </a:spcAft>
              <a:defRPr sz="1600"/>
            </a:pPr>
            <a:r>
              <a:t>API Documentation (Swagger interactive docs)</a:t>
            </a:r>
          </a:p>
          <a:p>
            <a:pPr>
              <a:spcAft>
                <a:spcPts val="800"/>
              </a:spcAft>
              <a:defRPr sz="1600"/>
            </a:pPr>
            <a:r>
              <a:t>User manual &amp; admin guide</a:t>
            </a:r>
          </a:p>
          <a:p>
            <a:pPr>
              <a:spcAft>
                <a:spcPts val="800"/>
              </a:spcAft>
              <a:defRPr sz="1600"/>
            </a:pPr>
            <a:r>
              <a:t>Deployment guide (dev &amp; production)</a:t>
            </a:r>
          </a:p>
          <a:p>
            <a:pPr>
              <a:spcAft>
                <a:spcPts val="800"/>
              </a:spcAft>
              <a:defRPr sz="1600"/>
            </a:pPr>
            <a:r>
              <a:t>Training session untuk admin &amp; staff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1A1A2E"/>
                </a:solidFill>
              </a:defRPr>
            </a:pPr>
            <a:r>
              <a:t>Terima Kasih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Inventory &amp; POS System — Solusi Terintegrasi</a:t>
            </a:r>
          </a:p>
          <a:p>
            <a:r>
              <a:t>untuk Manajemen Gudang, Distribusi &amp; Penjualan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